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
  </p:notesMasterIdLst>
  <p:sldIdLst>
    <p:sldId id="256" r:id="rId2"/>
    <p:sldId id="257" r:id="rId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8" d="100"/>
          <a:sy n="88" d="100"/>
        </p:scale>
        <p:origin x="228"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9736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members. Chirag on game development, Raj on 3D and technical integration, Preksha on visuals, music and theme, Purvesha on UI/UX, content and documentation.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photo goes on the left. Contribution split on the right. Close on the question the whole prototype is built around.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BYSS">
    <p:bg>
      <p:bgPr>
        <a:solidFill>
          <a:srgbClr val="04141E"/>
        </a:solidFill>
        <a:effectLst/>
      </p:bgPr>
    </p:bg>
    <p:spTree>
      <p:nvGrpSpPr>
        <p:cNvPr id="1" name=""/>
        <p:cNvGrpSpPr/>
        <p:nvPr/>
      </p:nvGrpSpPr>
      <p:grpSpPr>
        <a:xfrm>
          <a:off x="0" y="0"/>
          <a:ext cx="0" cy="0"/>
          <a:chOff x="0" y="0"/>
          <a:chExt cx="0" cy="0"/>
        </a:xfrm>
      </p:grpSpPr>
      <p:sp>
        <p:nvSpPr>
          <p:cNvPr id="2" name="Text 0"/>
          <p:cNvSpPr txBox="1"/>
          <p:nvPr/>
        </p:nvSpPr>
        <p:spPr>
          <a:xfrm>
            <a:off x="502920" y="6355080"/>
            <a:ext cx="9144000" cy="274320"/>
          </a:xfrm>
          <a:prstGeom prst="rect">
            <a:avLst/>
          </a:prstGeom>
          <a:noFill/>
          <a:ln/>
        </p:spPr>
        <p:txBody>
          <a:bodyPr wrap="square" lIns="0" tIns="0" rIns="0" bIns="0" rtlCol="0" anchor="ctr"/>
          <a:lstStyle/>
          <a:p>
            <a:pPr marL="0" indent="0">
              <a:buNone/>
            </a:pPr>
            <a:r>
              <a:rPr lang="en-US" sz="900" dirty="0">
                <a:solidFill>
                  <a:srgbClr val="5C7A88"/>
                </a:solidFill>
                <a:latin typeface="Courier New" pitchFamily="34" charset="0"/>
                <a:ea typeface="Courier New" pitchFamily="34" charset="-122"/>
                <a:cs typeface="Courier New" pitchFamily="34" charset="-120"/>
              </a:rPr>
              <a:t>TRUSTLINE: ABYSS  ·  DEFENSE TECH JAM  ·  TEAM CREDITS</a:t>
            </a: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11338560" y="6336792"/>
            <a:ext cx="365760" cy="274320"/>
          </a:xfrm>
          <a:prstGeom prst="rect">
            <a:avLst/>
          </a:prstGeom>
          <a:noFill/>
          <a:ln/>
        </p:spPr>
        <p:txBody>
          <a:bodyPr wrap="square" lIns="0" tIns="0" rIns="0" bIns="0" rtlCol="0" anchor="ctr"/>
          <a:lstStyle/>
          <a:p>
            <a:pPr marL="0" indent="0" algn="r">
              <a:buNone/>
            </a:pPr>
            <a:r>
              <a:rPr lang="en-US" sz="900" dirty="0">
                <a:solidFill>
                  <a:srgbClr val="5C7A88"/>
                </a:solidFill>
                <a:latin typeface="Courier New" pitchFamily="34" charset="0"/>
                <a:ea typeface="Courier New" pitchFamily="34" charset="-122"/>
                <a:cs typeface="Courier New" pitchFamily="34" charset="-120"/>
              </a:rPr>
              <a:t>1</a:t>
            </a:r>
            <a:endParaRPr lang="en-US" sz="900" dirty="0"/>
          </a:p>
        </p:txBody>
      </p:sp>
      <p:pic>
        <p:nvPicPr>
          <p:cNvPr id="3" name="Image 0" descr="C:\Users\Preksha dewoolkar\OneDrive\Desktop\Defense-tech-jam-main\Defense-tech-jam-main\art\key-art.jpg"/>
          <p:cNvPicPr>
            <a:picLocks noChangeAspect="1"/>
          </p:cNvPicPr>
          <p:nvPr/>
        </p:nvPicPr>
        <p:blipFill>
          <a:blip r:embed="rId3">
            <a:alphaModFix amt="10000"/>
          </a:blip>
          <a:stretch>
            <a:fillRect/>
          </a:stretch>
        </p:blipFill>
        <p:spPr>
          <a:xfrm>
            <a:off x="0" y="0"/>
            <a:ext cx="12161520" cy="6858000"/>
          </a:xfrm>
          <a:prstGeom prst="rect">
            <a:avLst/>
          </a:prstGeom>
        </p:spPr>
      </p:pic>
      <p:sp>
        <p:nvSpPr>
          <p:cNvPr id="4" name="Shape 1"/>
          <p:cNvSpPr/>
          <p:nvPr/>
        </p:nvSpPr>
        <p:spPr>
          <a:xfrm>
            <a:off x="0" y="0"/>
            <a:ext cx="12161520" cy="6858000"/>
          </a:xfrm>
          <a:prstGeom prst="rect">
            <a:avLst/>
          </a:prstGeom>
          <a:solidFill>
            <a:srgbClr val="04141E">
              <a:alpha val="88000"/>
            </a:srgbClr>
          </a:solidFill>
          <a:ln/>
        </p:spPr>
      </p:sp>
      <p:sp>
        <p:nvSpPr>
          <p:cNvPr id="5" name="Text 2"/>
          <p:cNvSpPr txBox="1"/>
          <p:nvPr/>
        </p:nvSpPr>
        <p:spPr>
          <a:xfrm>
            <a:off x="502920" y="347472"/>
            <a:ext cx="7315200" cy="548640"/>
          </a:xfrm>
          <a:prstGeom prst="rect">
            <a:avLst/>
          </a:prstGeom>
          <a:noFill/>
          <a:ln/>
        </p:spPr>
        <p:txBody>
          <a:bodyPr wrap="square" lIns="0" tIns="0" rIns="0" bIns="0" rtlCol="0" anchor="ctr"/>
          <a:lstStyle/>
          <a:p>
            <a:pPr marL="0" indent="0">
              <a:buNone/>
            </a:pPr>
            <a:r>
              <a:rPr lang="en-US" sz="3400" b="1" kern="0" spc="200" dirty="0">
                <a:solidFill>
                  <a:srgbClr val="E8F2F6"/>
                </a:solidFill>
                <a:latin typeface="Calibri" pitchFamily="34" charset="0"/>
                <a:ea typeface="Calibri" pitchFamily="34" charset="-122"/>
                <a:cs typeface="Calibri" pitchFamily="34" charset="-120"/>
              </a:rPr>
              <a:t>TEAM CREDITS</a:t>
            </a:r>
            <a:endParaRPr lang="en-US" sz="3400" dirty="0"/>
          </a:p>
        </p:txBody>
      </p:sp>
      <p:sp>
        <p:nvSpPr>
          <p:cNvPr id="6" name="Text 3"/>
          <p:cNvSpPr txBox="1"/>
          <p:nvPr/>
        </p:nvSpPr>
        <p:spPr>
          <a:xfrm>
            <a:off x="502920" y="914400"/>
            <a:ext cx="7315200" cy="310896"/>
          </a:xfrm>
          <a:prstGeom prst="rect">
            <a:avLst/>
          </a:prstGeom>
          <a:noFill/>
          <a:ln/>
        </p:spPr>
        <p:txBody>
          <a:bodyPr wrap="square" lIns="0" tIns="0" rIns="0" bIns="0" rtlCol="0" anchor="ctr"/>
          <a:lstStyle/>
          <a:p>
            <a:pPr marL="0" indent="0">
              <a:buNone/>
            </a:pPr>
            <a:r>
              <a:rPr lang="en-US" sz="1150" dirty="0">
                <a:solidFill>
                  <a:srgbClr val="3FA8C4"/>
                </a:solidFill>
                <a:latin typeface="Courier New" pitchFamily="34" charset="0"/>
                <a:ea typeface="Courier New" pitchFamily="34" charset="-122"/>
                <a:cs typeface="Courier New" pitchFamily="34" charset="-120"/>
              </a:rPr>
              <a:t>TRUSTLINE: ABYSS  ·  HUMAN–AI TRUST CALIBRATION</a:t>
            </a:r>
            <a:endParaRPr lang="en-US" sz="1150" dirty="0"/>
          </a:p>
        </p:txBody>
      </p:sp>
      <p:sp>
        <p:nvSpPr>
          <p:cNvPr id="7" name="Text 4"/>
          <p:cNvSpPr txBox="1"/>
          <p:nvPr/>
        </p:nvSpPr>
        <p:spPr>
          <a:xfrm>
            <a:off x="8321040" y="475488"/>
            <a:ext cx="3337560" cy="457200"/>
          </a:xfrm>
          <a:prstGeom prst="rect">
            <a:avLst/>
          </a:prstGeom>
          <a:noFill/>
          <a:ln/>
        </p:spPr>
        <p:txBody>
          <a:bodyPr wrap="square" lIns="0" tIns="0" rIns="0" bIns="0" rtlCol="0" anchor="ctr"/>
          <a:lstStyle/>
          <a:p>
            <a:pPr marL="0" indent="0" algn="r">
              <a:buNone/>
            </a:pPr>
            <a:r>
              <a:rPr lang="en-US" sz="2000" i="1" dirty="0">
                <a:solidFill>
                  <a:srgbClr val="FFA312"/>
                </a:solidFill>
                <a:latin typeface="Cambria" pitchFamily="34" charset="0"/>
                <a:ea typeface="Cambria" pitchFamily="34" charset="-122"/>
                <a:cs typeface="Cambria" pitchFamily="34" charset="-120"/>
              </a:rPr>
              <a:t>Meet the team</a:t>
            </a:r>
            <a:endParaRPr lang="en-US" sz="2000" dirty="0"/>
          </a:p>
        </p:txBody>
      </p:sp>
      <p:sp>
        <p:nvSpPr>
          <p:cNvPr id="8" name="Shape 5"/>
          <p:cNvSpPr/>
          <p:nvPr/>
        </p:nvSpPr>
        <p:spPr>
          <a:xfrm>
            <a:off x="502920" y="1481328"/>
            <a:ext cx="5532120" cy="2286000"/>
          </a:xfrm>
          <a:prstGeom prst="roundRect">
            <a:avLst>
              <a:gd name="adj" fmla="val 2000"/>
            </a:avLst>
          </a:prstGeom>
          <a:solidFill>
            <a:srgbClr val="0B1F2B"/>
          </a:solidFill>
          <a:ln w="12700">
            <a:solidFill>
              <a:srgbClr val="16303D"/>
            </a:solidFill>
            <a:prstDash val="solid"/>
          </a:ln>
        </p:spPr>
      </p:sp>
      <p:sp>
        <p:nvSpPr>
          <p:cNvPr id="9" name="Shape 6"/>
          <p:cNvSpPr/>
          <p:nvPr/>
        </p:nvSpPr>
        <p:spPr>
          <a:xfrm>
            <a:off x="758952" y="1719072"/>
            <a:ext cx="713232" cy="713232"/>
          </a:xfrm>
          <a:prstGeom prst="ellipse">
            <a:avLst/>
          </a:prstGeom>
          <a:solidFill>
            <a:srgbClr val="04141E"/>
          </a:solidFill>
          <a:ln w="25400">
            <a:solidFill>
              <a:srgbClr val="FFA312"/>
            </a:solidFill>
            <a:prstDash val="solid"/>
          </a:ln>
        </p:spPr>
      </p:sp>
      <p:sp>
        <p:nvSpPr>
          <p:cNvPr id="10" name="Text 7"/>
          <p:cNvSpPr txBox="1"/>
          <p:nvPr/>
        </p:nvSpPr>
        <p:spPr>
          <a:xfrm>
            <a:off x="758952" y="1719072"/>
            <a:ext cx="713232" cy="713232"/>
          </a:xfrm>
          <a:prstGeom prst="rect">
            <a:avLst/>
          </a:prstGeom>
          <a:noFill/>
          <a:ln/>
        </p:spPr>
        <p:txBody>
          <a:bodyPr wrap="square" lIns="0" tIns="0" rIns="0" bIns="0" rtlCol="0" anchor="ctr"/>
          <a:lstStyle/>
          <a:p>
            <a:pPr marL="0" indent="0" algn="ctr">
              <a:buNone/>
            </a:pPr>
            <a:r>
              <a:rPr lang="en-US" sz="1900" b="1" dirty="0">
                <a:solidFill>
                  <a:srgbClr val="FFA312"/>
                </a:solidFill>
                <a:latin typeface="Calibri" pitchFamily="34" charset="0"/>
                <a:ea typeface="Calibri" pitchFamily="34" charset="-122"/>
                <a:cs typeface="Calibri" pitchFamily="34" charset="-120"/>
              </a:rPr>
              <a:t>CP</a:t>
            </a:r>
            <a:endParaRPr lang="en-US" sz="1900" dirty="0"/>
          </a:p>
        </p:txBody>
      </p:sp>
      <p:sp>
        <p:nvSpPr>
          <p:cNvPr id="11" name="Text 8"/>
          <p:cNvSpPr txBox="1"/>
          <p:nvPr/>
        </p:nvSpPr>
        <p:spPr>
          <a:xfrm>
            <a:off x="1618488" y="1700784"/>
            <a:ext cx="4160520" cy="329184"/>
          </a:xfrm>
          <a:prstGeom prst="rect">
            <a:avLst/>
          </a:prstGeom>
          <a:noFill/>
          <a:ln/>
        </p:spPr>
        <p:txBody>
          <a:bodyPr wrap="square" lIns="0" tIns="0" rIns="0" bIns="0" rtlCol="0" anchor="ctr"/>
          <a:lstStyle/>
          <a:p>
            <a:pPr marL="0" indent="0">
              <a:buNone/>
            </a:pPr>
            <a:r>
              <a:rPr lang="en-US" sz="1900" b="1" dirty="0">
                <a:solidFill>
                  <a:srgbClr val="E8F2F6"/>
                </a:solidFill>
                <a:latin typeface="Calibri" pitchFamily="34" charset="0"/>
                <a:ea typeface="Calibri" pitchFamily="34" charset="-122"/>
                <a:cs typeface="Calibri" pitchFamily="34" charset="-120"/>
              </a:rPr>
              <a:t>Chirag Patankar</a:t>
            </a:r>
            <a:endParaRPr lang="en-US" sz="1900" dirty="0"/>
          </a:p>
        </p:txBody>
      </p:sp>
      <p:sp>
        <p:nvSpPr>
          <p:cNvPr id="12" name="Text 9"/>
          <p:cNvSpPr txBox="1"/>
          <p:nvPr/>
        </p:nvSpPr>
        <p:spPr>
          <a:xfrm>
            <a:off x="1618488" y="2048256"/>
            <a:ext cx="4160520" cy="402336"/>
          </a:xfrm>
          <a:prstGeom prst="rect">
            <a:avLst/>
          </a:prstGeom>
          <a:noFill/>
          <a:ln/>
        </p:spPr>
        <p:txBody>
          <a:bodyPr wrap="square" lIns="0" tIns="0" rIns="0" bIns="0" rtlCol="0" anchor="ctr"/>
          <a:lstStyle/>
          <a:p>
            <a:pPr marL="0" indent="0">
              <a:buNone/>
            </a:pPr>
            <a:r>
              <a:rPr lang="en-US" sz="950" b="1" kern="0" spc="100" dirty="0">
                <a:solidFill>
                  <a:srgbClr val="FFA312"/>
                </a:solidFill>
                <a:latin typeface="Courier New" pitchFamily="34" charset="0"/>
                <a:ea typeface="Courier New" pitchFamily="34" charset="-122"/>
                <a:cs typeface="Courier New" pitchFamily="34" charset="-120"/>
              </a:rPr>
              <a:t>GAME DEVELOPMENT  ·  LEAD DEVELOPER</a:t>
            </a:r>
            <a:endParaRPr lang="en-US" sz="950" dirty="0"/>
          </a:p>
        </p:txBody>
      </p:sp>
      <p:sp>
        <p:nvSpPr>
          <p:cNvPr id="13" name="Text 10"/>
          <p:cNvSpPr txBox="1"/>
          <p:nvPr/>
        </p:nvSpPr>
        <p:spPr>
          <a:xfrm>
            <a:off x="777240" y="2596896"/>
            <a:ext cx="4983480" cy="411480"/>
          </a:xfrm>
          <a:prstGeom prst="rect">
            <a:avLst/>
          </a:prstGeom>
          <a:noFill/>
          <a:ln/>
        </p:spPr>
        <p:txBody>
          <a:bodyPr wrap="square" lIns="0" tIns="0" rIns="0" bIns="0" rtlCol="0" anchor="ctr"/>
          <a:lstStyle/>
          <a:p>
            <a:pPr marL="0" indent="0">
              <a:buNone/>
            </a:pPr>
            <a:r>
              <a:rPr lang="en-US" sz="1150" dirty="0">
                <a:solidFill>
                  <a:srgbClr val="E8F2F6"/>
                </a:solidFill>
                <a:latin typeface="Calibri" pitchFamily="34" charset="0"/>
                <a:ea typeface="Calibri" pitchFamily="34" charset="-122"/>
                <a:cs typeface="Calibri" pitchFamily="34" charset="-120"/>
              </a:rPr>
              <a:t>Led core game development and implementation. Built the gameplay systems, checkpoint and scenario logic, AI teammate behaviour, sensor and evidence mechanics, interaction flow, and the browser-based playable experience. Worked with Raj on architecture, integration, debugging, testing and the final build.</a:t>
            </a:r>
            <a:endParaRPr lang="en-US" sz="1150" dirty="0"/>
          </a:p>
        </p:txBody>
      </p:sp>
      <p:sp>
        <p:nvSpPr>
          <p:cNvPr id="14" name="Text 11"/>
          <p:cNvSpPr txBox="1"/>
          <p:nvPr/>
        </p:nvSpPr>
        <p:spPr>
          <a:xfrm>
            <a:off x="777240" y="3054096"/>
            <a:ext cx="4983480" cy="603504"/>
          </a:xfrm>
          <a:prstGeom prst="rect">
            <a:avLst/>
          </a:prstGeom>
          <a:noFill/>
          <a:ln/>
        </p:spPr>
        <p:txBody>
          <a:bodyPr wrap="square" lIns="0" tIns="0" rIns="0" bIns="0" rtlCol="0" anchor="ctr"/>
          <a:lstStyle/>
          <a:p>
            <a:pPr marL="0" indent="0">
              <a:lnSpc>
                <a:spcPct val="125000"/>
              </a:lnSpc>
              <a:buNone/>
            </a:pPr>
            <a:r>
              <a:rPr lang="en-US" sz="900" dirty="0">
                <a:solidFill>
                  <a:srgbClr val="7E9AA6"/>
                </a:solidFill>
                <a:latin typeface="Courier New" pitchFamily="34" charset="0"/>
                <a:ea typeface="Courier New" pitchFamily="34" charset="-122"/>
                <a:cs typeface="Courier New" pitchFamily="34" charset="-120"/>
              </a:rPr>
              <a:t>✉  patankar.c@northeastern.edu</a:t>
            </a:r>
            <a:endParaRPr lang="en-US" sz="900" dirty="0"/>
          </a:p>
          <a:p>
            <a:pPr marL="0" indent="0">
              <a:lnSpc>
                <a:spcPct val="125000"/>
              </a:lnSpc>
              <a:buNone/>
            </a:pPr>
            <a:r>
              <a:rPr lang="en-US" sz="900" dirty="0">
                <a:solidFill>
                  <a:srgbClr val="7E9AA6"/>
                </a:solidFill>
                <a:latin typeface="Courier New" pitchFamily="34" charset="0"/>
                <a:ea typeface="Courier New" pitchFamily="34" charset="-122"/>
                <a:cs typeface="Courier New" pitchFamily="34" charset="-120"/>
              </a:rPr>
              <a:t>in  linkedin.com/in/chiragpatankar/</a:t>
            </a:r>
            <a:endParaRPr lang="en-US" sz="900" dirty="0"/>
          </a:p>
        </p:txBody>
      </p:sp>
      <p:sp>
        <p:nvSpPr>
          <p:cNvPr id="15" name="Shape 12"/>
          <p:cNvSpPr/>
          <p:nvPr/>
        </p:nvSpPr>
        <p:spPr>
          <a:xfrm>
            <a:off x="6126480" y="1481328"/>
            <a:ext cx="5532120" cy="2286000"/>
          </a:xfrm>
          <a:prstGeom prst="roundRect">
            <a:avLst>
              <a:gd name="adj" fmla="val 2000"/>
            </a:avLst>
          </a:prstGeom>
          <a:solidFill>
            <a:srgbClr val="0B1F2B"/>
          </a:solidFill>
          <a:ln w="12700">
            <a:solidFill>
              <a:srgbClr val="16303D"/>
            </a:solidFill>
            <a:prstDash val="solid"/>
          </a:ln>
        </p:spPr>
      </p:sp>
      <p:sp>
        <p:nvSpPr>
          <p:cNvPr id="16" name="Shape 13"/>
          <p:cNvSpPr/>
          <p:nvPr/>
        </p:nvSpPr>
        <p:spPr>
          <a:xfrm>
            <a:off x="6382512" y="1719072"/>
            <a:ext cx="713232" cy="713232"/>
          </a:xfrm>
          <a:prstGeom prst="ellipse">
            <a:avLst/>
          </a:prstGeom>
          <a:solidFill>
            <a:srgbClr val="04141E"/>
          </a:solidFill>
          <a:ln w="25400">
            <a:solidFill>
              <a:srgbClr val="3FA8C4"/>
            </a:solidFill>
            <a:prstDash val="solid"/>
          </a:ln>
        </p:spPr>
      </p:sp>
      <p:sp>
        <p:nvSpPr>
          <p:cNvPr id="17" name="Text 14"/>
          <p:cNvSpPr txBox="1"/>
          <p:nvPr/>
        </p:nvSpPr>
        <p:spPr>
          <a:xfrm>
            <a:off x="6382512" y="1719072"/>
            <a:ext cx="713232" cy="713232"/>
          </a:xfrm>
          <a:prstGeom prst="rect">
            <a:avLst/>
          </a:prstGeom>
          <a:noFill/>
          <a:ln/>
        </p:spPr>
        <p:txBody>
          <a:bodyPr wrap="square" lIns="0" tIns="0" rIns="0" bIns="0" rtlCol="0" anchor="ctr"/>
          <a:lstStyle/>
          <a:p>
            <a:pPr marL="0" indent="0" algn="ctr">
              <a:buNone/>
            </a:pPr>
            <a:r>
              <a:rPr lang="en-US" sz="1900" b="1" dirty="0">
                <a:solidFill>
                  <a:srgbClr val="3FA8C4"/>
                </a:solidFill>
                <a:latin typeface="Calibri" pitchFamily="34" charset="0"/>
                <a:ea typeface="Calibri" pitchFamily="34" charset="-122"/>
                <a:cs typeface="Calibri" pitchFamily="34" charset="-120"/>
              </a:rPr>
              <a:t>RR</a:t>
            </a:r>
            <a:endParaRPr lang="en-US" sz="1900" dirty="0"/>
          </a:p>
        </p:txBody>
      </p:sp>
      <p:sp>
        <p:nvSpPr>
          <p:cNvPr id="18" name="Text 15"/>
          <p:cNvSpPr txBox="1"/>
          <p:nvPr/>
        </p:nvSpPr>
        <p:spPr>
          <a:xfrm>
            <a:off x="7242048" y="1700784"/>
            <a:ext cx="4160520" cy="329184"/>
          </a:xfrm>
          <a:prstGeom prst="rect">
            <a:avLst/>
          </a:prstGeom>
          <a:noFill/>
          <a:ln/>
        </p:spPr>
        <p:txBody>
          <a:bodyPr wrap="square" lIns="0" tIns="0" rIns="0" bIns="0" rtlCol="0" anchor="ctr"/>
          <a:lstStyle/>
          <a:p>
            <a:pPr marL="0" indent="0">
              <a:buNone/>
            </a:pPr>
            <a:r>
              <a:rPr lang="en-US" sz="1900" b="1" dirty="0">
                <a:solidFill>
                  <a:srgbClr val="E8F2F6"/>
                </a:solidFill>
                <a:latin typeface="Calibri" pitchFamily="34" charset="0"/>
                <a:ea typeface="Calibri" pitchFamily="34" charset="-122"/>
                <a:cs typeface="Calibri" pitchFamily="34" charset="-120"/>
              </a:rPr>
              <a:t>Raj Ranjit Yadav</a:t>
            </a:r>
            <a:endParaRPr lang="en-US" sz="1900" dirty="0"/>
          </a:p>
        </p:txBody>
      </p:sp>
      <p:sp>
        <p:nvSpPr>
          <p:cNvPr id="19" name="Text 16"/>
          <p:cNvSpPr txBox="1"/>
          <p:nvPr/>
        </p:nvSpPr>
        <p:spPr>
          <a:xfrm>
            <a:off x="7242048" y="2048256"/>
            <a:ext cx="4160520" cy="402336"/>
          </a:xfrm>
          <a:prstGeom prst="rect">
            <a:avLst/>
          </a:prstGeom>
          <a:noFill/>
          <a:ln/>
        </p:spPr>
        <p:txBody>
          <a:bodyPr wrap="square" lIns="0" tIns="0" rIns="0" bIns="0" rtlCol="0" anchor="ctr"/>
          <a:lstStyle/>
          <a:p>
            <a:pPr marL="0" indent="0">
              <a:buNone/>
            </a:pPr>
            <a:r>
              <a:rPr lang="en-US" sz="950" b="1" kern="0" spc="100" dirty="0">
                <a:solidFill>
                  <a:srgbClr val="3FA8C4"/>
                </a:solidFill>
                <a:latin typeface="Courier New" pitchFamily="34" charset="0"/>
                <a:ea typeface="Courier New" pitchFamily="34" charset="-122"/>
                <a:cs typeface="Courier New" pitchFamily="34" charset="-120"/>
              </a:rPr>
              <a:t>DEVELOPER  ·  3D / GAMEPLAY &amp; TECHNICAL INTEGRATION</a:t>
            </a:r>
            <a:endParaRPr lang="en-US" sz="950" dirty="0"/>
          </a:p>
        </p:txBody>
      </p:sp>
      <p:sp>
        <p:nvSpPr>
          <p:cNvPr id="20" name="Text 17"/>
          <p:cNvSpPr txBox="1"/>
          <p:nvPr/>
        </p:nvSpPr>
        <p:spPr>
          <a:xfrm>
            <a:off x="6400800" y="2596896"/>
            <a:ext cx="4983480" cy="411480"/>
          </a:xfrm>
          <a:prstGeom prst="rect">
            <a:avLst/>
          </a:prstGeom>
          <a:noFill/>
          <a:ln/>
        </p:spPr>
        <p:txBody>
          <a:bodyPr wrap="square" lIns="0" tIns="0" rIns="0" bIns="0" rtlCol="0" anchor="ctr"/>
          <a:lstStyle/>
          <a:p>
            <a:pPr marL="0" indent="0">
              <a:buNone/>
            </a:pPr>
            <a:r>
              <a:rPr lang="en-US" sz="1150" dirty="0">
                <a:solidFill>
                  <a:srgbClr val="E8F2F6"/>
                </a:solidFill>
                <a:latin typeface="Calibri" pitchFamily="34" charset="0"/>
                <a:ea typeface="Calibri" pitchFamily="34" charset="-122"/>
                <a:cs typeface="Calibri" pitchFamily="34" charset="-120"/>
              </a:rPr>
              <a:t>Focused on development, gameplay implementation, 3D environment integration, interaction systems, technical polish, testing and performance. Worked closely with Chirag to connect the submarine exploration, sensor systems, checkpoint logic and the decision-making experience.</a:t>
            </a:r>
            <a:endParaRPr lang="en-US" sz="1150" dirty="0"/>
          </a:p>
        </p:txBody>
      </p:sp>
      <p:sp>
        <p:nvSpPr>
          <p:cNvPr id="21" name="Text 18"/>
          <p:cNvSpPr txBox="1"/>
          <p:nvPr/>
        </p:nvSpPr>
        <p:spPr>
          <a:xfrm>
            <a:off x="6400800" y="3054096"/>
            <a:ext cx="4983480" cy="603504"/>
          </a:xfrm>
          <a:prstGeom prst="rect">
            <a:avLst/>
          </a:prstGeom>
          <a:noFill/>
          <a:ln/>
        </p:spPr>
        <p:txBody>
          <a:bodyPr wrap="square" lIns="0" tIns="0" rIns="0" bIns="0" rtlCol="0" anchor="ctr"/>
          <a:lstStyle/>
          <a:p>
            <a:pPr marL="0" indent="0">
              <a:lnSpc>
                <a:spcPct val="125000"/>
              </a:lnSpc>
              <a:buNone/>
            </a:pPr>
            <a:r>
              <a:rPr lang="en-US" sz="900" dirty="0">
                <a:solidFill>
                  <a:srgbClr val="7E9AA6"/>
                </a:solidFill>
                <a:latin typeface="Courier New" pitchFamily="34" charset="0"/>
                <a:ea typeface="Courier New" pitchFamily="34" charset="-122"/>
                <a:cs typeface="Courier New" pitchFamily="34" charset="-120"/>
              </a:rPr>
              <a:t>✉  yadav.rajr@northeastern.edu</a:t>
            </a:r>
            <a:endParaRPr lang="en-US" sz="900" dirty="0"/>
          </a:p>
          <a:p>
            <a:pPr marL="0" indent="0">
              <a:lnSpc>
                <a:spcPct val="125000"/>
              </a:lnSpc>
              <a:buNone/>
            </a:pPr>
            <a:r>
              <a:rPr lang="en-US" sz="900" dirty="0">
                <a:solidFill>
                  <a:srgbClr val="7E9AA6"/>
                </a:solidFill>
                <a:latin typeface="Courier New" pitchFamily="34" charset="0"/>
                <a:ea typeface="Courier New" pitchFamily="34" charset="-122"/>
                <a:cs typeface="Courier New" pitchFamily="34" charset="-120"/>
              </a:rPr>
              <a:t>in  linkedin.com/in/rajx463/</a:t>
            </a:r>
            <a:endParaRPr lang="en-US" sz="900" dirty="0"/>
          </a:p>
        </p:txBody>
      </p:sp>
      <p:sp>
        <p:nvSpPr>
          <p:cNvPr id="22" name="Shape 19"/>
          <p:cNvSpPr/>
          <p:nvPr/>
        </p:nvSpPr>
        <p:spPr>
          <a:xfrm>
            <a:off x="502920" y="3913632"/>
            <a:ext cx="5532120" cy="2286000"/>
          </a:xfrm>
          <a:prstGeom prst="roundRect">
            <a:avLst>
              <a:gd name="adj" fmla="val 2000"/>
            </a:avLst>
          </a:prstGeom>
          <a:solidFill>
            <a:srgbClr val="0B1F2B"/>
          </a:solidFill>
          <a:ln w="12700">
            <a:solidFill>
              <a:srgbClr val="16303D"/>
            </a:solidFill>
            <a:prstDash val="solid"/>
          </a:ln>
        </p:spPr>
      </p:sp>
      <p:sp>
        <p:nvSpPr>
          <p:cNvPr id="23" name="Shape 20"/>
          <p:cNvSpPr/>
          <p:nvPr/>
        </p:nvSpPr>
        <p:spPr>
          <a:xfrm>
            <a:off x="758952" y="4151376"/>
            <a:ext cx="713232" cy="713232"/>
          </a:xfrm>
          <a:prstGeom prst="ellipse">
            <a:avLst/>
          </a:prstGeom>
          <a:solidFill>
            <a:srgbClr val="04141E"/>
          </a:solidFill>
          <a:ln w="25400">
            <a:solidFill>
              <a:srgbClr val="FFA312"/>
            </a:solidFill>
            <a:prstDash val="solid"/>
          </a:ln>
        </p:spPr>
      </p:sp>
      <p:sp>
        <p:nvSpPr>
          <p:cNvPr id="24" name="Text 21"/>
          <p:cNvSpPr txBox="1"/>
          <p:nvPr/>
        </p:nvSpPr>
        <p:spPr>
          <a:xfrm>
            <a:off x="758952" y="4151376"/>
            <a:ext cx="713232" cy="713232"/>
          </a:xfrm>
          <a:prstGeom prst="rect">
            <a:avLst/>
          </a:prstGeom>
          <a:noFill/>
          <a:ln/>
        </p:spPr>
        <p:txBody>
          <a:bodyPr wrap="square" lIns="0" tIns="0" rIns="0" bIns="0" rtlCol="0" anchor="ctr"/>
          <a:lstStyle/>
          <a:p>
            <a:pPr marL="0" indent="0" algn="ctr">
              <a:buNone/>
            </a:pPr>
            <a:r>
              <a:rPr lang="en-US" sz="1900" b="1" dirty="0">
                <a:solidFill>
                  <a:srgbClr val="FFA312"/>
                </a:solidFill>
                <a:latin typeface="Calibri" pitchFamily="34" charset="0"/>
                <a:ea typeface="Calibri" pitchFamily="34" charset="-122"/>
                <a:cs typeface="Calibri" pitchFamily="34" charset="-120"/>
              </a:rPr>
              <a:t>PD</a:t>
            </a:r>
            <a:endParaRPr lang="en-US" sz="1900" dirty="0"/>
          </a:p>
        </p:txBody>
      </p:sp>
      <p:sp>
        <p:nvSpPr>
          <p:cNvPr id="25" name="Text 22"/>
          <p:cNvSpPr txBox="1"/>
          <p:nvPr/>
        </p:nvSpPr>
        <p:spPr>
          <a:xfrm>
            <a:off x="1618488" y="4133088"/>
            <a:ext cx="4160520" cy="329184"/>
          </a:xfrm>
          <a:prstGeom prst="rect">
            <a:avLst/>
          </a:prstGeom>
          <a:noFill/>
          <a:ln/>
        </p:spPr>
        <p:txBody>
          <a:bodyPr wrap="square" lIns="0" tIns="0" rIns="0" bIns="0" rtlCol="0" anchor="ctr"/>
          <a:lstStyle/>
          <a:p>
            <a:pPr marL="0" indent="0">
              <a:buNone/>
            </a:pPr>
            <a:r>
              <a:rPr lang="en-US" sz="1900" b="1" dirty="0">
                <a:solidFill>
                  <a:srgbClr val="E8F2F6"/>
                </a:solidFill>
                <a:latin typeface="Calibri" pitchFamily="34" charset="0"/>
                <a:ea typeface="Calibri" pitchFamily="34" charset="-122"/>
                <a:cs typeface="Calibri" pitchFamily="34" charset="-120"/>
              </a:rPr>
              <a:t>Preksha Dewoolkar</a:t>
            </a:r>
            <a:endParaRPr lang="en-US" sz="1900" dirty="0"/>
          </a:p>
        </p:txBody>
      </p:sp>
      <p:sp>
        <p:nvSpPr>
          <p:cNvPr id="26" name="Text 23"/>
          <p:cNvSpPr txBox="1"/>
          <p:nvPr/>
        </p:nvSpPr>
        <p:spPr>
          <a:xfrm>
            <a:off x="1618488" y="4480560"/>
            <a:ext cx="4160520" cy="402336"/>
          </a:xfrm>
          <a:prstGeom prst="rect">
            <a:avLst/>
          </a:prstGeom>
          <a:noFill/>
          <a:ln/>
        </p:spPr>
        <p:txBody>
          <a:bodyPr wrap="square" lIns="0" tIns="0" rIns="0" bIns="0" rtlCol="0" anchor="ctr"/>
          <a:lstStyle/>
          <a:p>
            <a:pPr marL="0" indent="0">
              <a:buNone/>
            </a:pPr>
            <a:r>
              <a:rPr lang="en-US" sz="950" b="1" kern="0" spc="100" dirty="0">
                <a:solidFill>
                  <a:srgbClr val="FFA312"/>
                </a:solidFill>
                <a:latin typeface="Courier New" pitchFamily="34" charset="0"/>
                <a:ea typeface="Courier New" pitchFamily="34" charset="-122"/>
                <a:cs typeface="Courier New" pitchFamily="34" charset="-120"/>
              </a:rPr>
              <a:t>VISUALS  ·  MUSIC  ·  THEME</a:t>
            </a:r>
            <a:endParaRPr lang="en-US" sz="950" dirty="0"/>
          </a:p>
        </p:txBody>
      </p:sp>
      <p:sp>
        <p:nvSpPr>
          <p:cNvPr id="27" name="Text 24"/>
          <p:cNvSpPr txBox="1"/>
          <p:nvPr/>
        </p:nvSpPr>
        <p:spPr>
          <a:xfrm>
            <a:off x="777240" y="5029200"/>
            <a:ext cx="4983480" cy="411480"/>
          </a:xfrm>
          <a:prstGeom prst="rect">
            <a:avLst/>
          </a:prstGeom>
          <a:noFill/>
          <a:ln/>
        </p:spPr>
        <p:txBody>
          <a:bodyPr wrap="square" lIns="0" tIns="0" rIns="0" bIns="0" rtlCol="0" anchor="ctr"/>
          <a:lstStyle/>
          <a:p>
            <a:pPr marL="0" indent="0">
              <a:buNone/>
            </a:pPr>
            <a:r>
              <a:rPr lang="en-US" sz="1150" dirty="0">
                <a:solidFill>
                  <a:srgbClr val="E8F2F6"/>
                </a:solidFill>
                <a:latin typeface="Calibri" pitchFamily="34" charset="0"/>
                <a:ea typeface="Calibri" pitchFamily="34" charset="-122"/>
                <a:cs typeface="Calibri" pitchFamily="34" charset="-120"/>
              </a:rPr>
              <a:t>Led the visual direction, music and overall theme. Shaped the underwater sci-fi identity, the HUD aesthetic, visual assets and game presentation, and drove the audio and music that carry the mood of TRUSTLINE: ABYSS.</a:t>
            </a:r>
            <a:endParaRPr lang="en-US" sz="1150" dirty="0"/>
          </a:p>
        </p:txBody>
      </p:sp>
      <p:sp>
        <p:nvSpPr>
          <p:cNvPr id="28" name="Text 25"/>
          <p:cNvSpPr txBox="1"/>
          <p:nvPr/>
        </p:nvSpPr>
        <p:spPr>
          <a:xfrm>
            <a:off x="777240" y="5486400"/>
            <a:ext cx="4983480" cy="603504"/>
          </a:xfrm>
          <a:prstGeom prst="rect">
            <a:avLst/>
          </a:prstGeom>
          <a:noFill/>
          <a:ln/>
        </p:spPr>
        <p:txBody>
          <a:bodyPr wrap="square" lIns="0" tIns="0" rIns="0" bIns="0" rtlCol="0" anchor="ctr"/>
          <a:lstStyle/>
          <a:p>
            <a:pPr marL="0" indent="0">
              <a:lnSpc>
                <a:spcPct val="125000"/>
              </a:lnSpc>
              <a:buNone/>
            </a:pPr>
            <a:r>
              <a:rPr lang="en-US" sz="900" dirty="0">
                <a:solidFill>
                  <a:srgbClr val="7E9AA6"/>
                </a:solidFill>
                <a:latin typeface="Courier New" pitchFamily="34" charset="0"/>
                <a:ea typeface="Courier New" pitchFamily="34" charset="-122"/>
                <a:cs typeface="Courier New" pitchFamily="34" charset="-120"/>
              </a:rPr>
              <a:t>✉  dewoolkar.p@northeastern.edu</a:t>
            </a:r>
            <a:endParaRPr lang="en-US" sz="900" dirty="0"/>
          </a:p>
          <a:p>
            <a:pPr marL="0" indent="0">
              <a:lnSpc>
                <a:spcPct val="125000"/>
              </a:lnSpc>
              <a:buNone/>
            </a:pPr>
            <a:r>
              <a:rPr lang="en-US" sz="900" dirty="0">
                <a:solidFill>
                  <a:srgbClr val="7E9AA6"/>
                </a:solidFill>
                <a:latin typeface="Courier New" pitchFamily="34" charset="0"/>
                <a:ea typeface="Courier New" pitchFamily="34" charset="-122"/>
                <a:cs typeface="Courier New" pitchFamily="34" charset="-120"/>
              </a:rPr>
              <a:t>in  linkedin.com/in/preksha-prashant-dewoolkar-2224512a/</a:t>
            </a:r>
            <a:endParaRPr lang="en-US" sz="900" dirty="0"/>
          </a:p>
        </p:txBody>
      </p:sp>
      <p:sp>
        <p:nvSpPr>
          <p:cNvPr id="29" name="Shape 26"/>
          <p:cNvSpPr/>
          <p:nvPr/>
        </p:nvSpPr>
        <p:spPr>
          <a:xfrm>
            <a:off x="6126480" y="3913632"/>
            <a:ext cx="5532120" cy="2286000"/>
          </a:xfrm>
          <a:prstGeom prst="roundRect">
            <a:avLst>
              <a:gd name="adj" fmla="val 2000"/>
            </a:avLst>
          </a:prstGeom>
          <a:solidFill>
            <a:srgbClr val="0B1F2B"/>
          </a:solidFill>
          <a:ln w="12700">
            <a:solidFill>
              <a:srgbClr val="16303D"/>
            </a:solidFill>
            <a:prstDash val="solid"/>
          </a:ln>
        </p:spPr>
      </p:sp>
      <p:sp>
        <p:nvSpPr>
          <p:cNvPr id="30" name="Shape 27"/>
          <p:cNvSpPr/>
          <p:nvPr/>
        </p:nvSpPr>
        <p:spPr>
          <a:xfrm>
            <a:off x="6382512" y="4151376"/>
            <a:ext cx="713232" cy="713232"/>
          </a:xfrm>
          <a:prstGeom prst="ellipse">
            <a:avLst/>
          </a:prstGeom>
          <a:solidFill>
            <a:srgbClr val="04141E"/>
          </a:solidFill>
          <a:ln w="25400">
            <a:solidFill>
              <a:srgbClr val="3FA8C4"/>
            </a:solidFill>
            <a:prstDash val="solid"/>
          </a:ln>
        </p:spPr>
      </p:sp>
      <p:sp>
        <p:nvSpPr>
          <p:cNvPr id="31" name="Text 28"/>
          <p:cNvSpPr txBox="1"/>
          <p:nvPr/>
        </p:nvSpPr>
        <p:spPr>
          <a:xfrm>
            <a:off x="6382512" y="4151376"/>
            <a:ext cx="713232" cy="713232"/>
          </a:xfrm>
          <a:prstGeom prst="rect">
            <a:avLst/>
          </a:prstGeom>
          <a:noFill/>
          <a:ln/>
        </p:spPr>
        <p:txBody>
          <a:bodyPr wrap="square" lIns="0" tIns="0" rIns="0" bIns="0" rtlCol="0" anchor="ctr"/>
          <a:lstStyle/>
          <a:p>
            <a:pPr marL="0" indent="0" algn="ctr">
              <a:buNone/>
            </a:pPr>
            <a:r>
              <a:rPr lang="en-US" sz="1900" b="1" dirty="0">
                <a:solidFill>
                  <a:srgbClr val="3FA8C4"/>
                </a:solidFill>
                <a:latin typeface="Calibri" pitchFamily="34" charset="0"/>
                <a:ea typeface="Calibri" pitchFamily="34" charset="-122"/>
                <a:cs typeface="Calibri" pitchFamily="34" charset="-120"/>
              </a:rPr>
              <a:t>PK</a:t>
            </a:r>
            <a:endParaRPr lang="en-US" sz="1900" dirty="0"/>
          </a:p>
        </p:txBody>
      </p:sp>
      <p:sp>
        <p:nvSpPr>
          <p:cNvPr id="32" name="Text 29"/>
          <p:cNvSpPr txBox="1"/>
          <p:nvPr/>
        </p:nvSpPr>
        <p:spPr>
          <a:xfrm>
            <a:off x="7242048" y="4133088"/>
            <a:ext cx="4160520" cy="329184"/>
          </a:xfrm>
          <a:prstGeom prst="rect">
            <a:avLst/>
          </a:prstGeom>
          <a:noFill/>
          <a:ln/>
        </p:spPr>
        <p:txBody>
          <a:bodyPr wrap="square" lIns="0" tIns="0" rIns="0" bIns="0" rtlCol="0" anchor="ctr"/>
          <a:lstStyle/>
          <a:p>
            <a:pPr marL="0" indent="0">
              <a:buNone/>
            </a:pPr>
            <a:r>
              <a:rPr lang="en-US" sz="1900" b="1" dirty="0">
                <a:solidFill>
                  <a:srgbClr val="E8F2F6"/>
                </a:solidFill>
                <a:latin typeface="Calibri" pitchFamily="34" charset="0"/>
                <a:ea typeface="Calibri" pitchFamily="34" charset="-122"/>
                <a:cs typeface="Calibri" pitchFamily="34" charset="-120"/>
              </a:rPr>
              <a:t>Purvesha Kolhe</a:t>
            </a:r>
            <a:endParaRPr lang="en-US" sz="1900" dirty="0"/>
          </a:p>
        </p:txBody>
      </p:sp>
      <p:sp>
        <p:nvSpPr>
          <p:cNvPr id="33" name="Text 30"/>
          <p:cNvSpPr txBox="1"/>
          <p:nvPr/>
        </p:nvSpPr>
        <p:spPr>
          <a:xfrm>
            <a:off x="7242048" y="4480560"/>
            <a:ext cx="4160520" cy="402336"/>
          </a:xfrm>
          <a:prstGeom prst="rect">
            <a:avLst/>
          </a:prstGeom>
          <a:noFill/>
          <a:ln/>
        </p:spPr>
        <p:txBody>
          <a:bodyPr wrap="square" lIns="0" tIns="0" rIns="0" bIns="0" rtlCol="0" anchor="ctr"/>
          <a:lstStyle/>
          <a:p>
            <a:pPr marL="0" indent="0">
              <a:buNone/>
            </a:pPr>
            <a:r>
              <a:rPr lang="en-US" sz="950" b="1" kern="0" spc="100" dirty="0">
                <a:solidFill>
                  <a:srgbClr val="3FA8C4"/>
                </a:solidFill>
                <a:latin typeface="Courier New" pitchFamily="34" charset="0"/>
                <a:ea typeface="Courier New" pitchFamily="34" charset="-122"/>
                <a:cs typeface="Courier New" pitchFamily="34" charset="-120"/>
              </a:rPr>
              <a:t>UI/UX + FRONTEND  ·  CONTENT, AUDIO &amp; DOCUMENTATION</a:t>
            </a:r>
            <a:endParaRPr lang="en-US" sz="950" dirty="0"/>
          </a:p>
        </p:txBody>
      </p:sp>
      <p:sp>
        <p:nvSpPr>
          <p:cNvPr id="34" name="Text 31"/>
          <p:cNvSpPr txBox="1"/>
          <p:nvPr/>
        </p:nvSpPr>
        <p:spPr>
          <a:xfrm>
            <a:off x="6400800" y="5029200"/>
            <a:ext cx="4983480" cy="411480"/>
          </a:xfrm>
          <a:prstGeom prst="rect">
            <a:avLst/>
          </a:prstGeom>
          <a:noFill/>
          <a:ln/>
        </p:spPr>
        <p:txBody>
          <a:bodyPr wrap="square" lIns="0" tIns="0" rIns="0" bIns="0" rtlCol="0" anchor="ctr"/>
          <a:lstStyle/>
          <a:p>
            <a:pPr marL="0" indent="0">
              <a:buNone/>
            </a:pPr>
            <a:r>
              <a:rPr lang="en-US" sz="1150" dirty="0">
                <a:solidFill>
                  <a:srgbClr val="E8F2F6"/>
                </a:solidFill>
                <a:latin typeface="Calibri" pitchFamily="34" charset="0"/>
                <a:ea typeface="Calibri" pitchFamily="34" charset="-122"/>
                <a:cs typeface="Calibri" pitchFamily="34" charset="-120"/>
              </a:rPr>
              <a:t>Contributed to both design and technical implementation: the player-facing UI and HUD, screen layouts, interaction flow, content and scenario integration, presentation assets and testing. Supported audio integration, and led project documentation, game narrative, challenge framing and final deliverables.</a:t>
            </a:r>
            <a:endParaRPr lang="en-US" sz="1150" dirty="0"/>
          </a:p>
        </p:txBody>
      </p:sp>
      <p:sp>
        <p:nvSpPr>
          <p:cNvPr id="35" name="Text 32"/>
          <p:cNvSpPr txBox="1"/>
          <p:nvPr/>
        </p:nvSpPr>
        <p:spPr>
          <a:xfrm>
            <a:off x="6400800" y="5486400"/>
            <a:ext cx="4983480" cy="603504"/>
          </a:xfrm>
          <a:prstGeom prst="rect">
            <a:avLst/>
          </a:prstGeom>
          <a:noFill/>
          <a:ln/>
        </p:spPr>
        <p:txBody>
          <a:bodyPr wrap="square" lIns="0" tIns="0" rIns="0" bIns="0" rtlCol="0" anchor="ctr"/>
          <a:lstStyle/>
          <a:p>
            <a:pPr marL="0" indent="0">
              <a:lnSpc>
                <a:spcPct val="125000"/>
              </a:lnSpc>
              <a:buNone/>
            </a:pPr>
            <a:r>
              <a:rPr lang="en-US" sz="900" dirty="0">
                <a:solidFill>
                  <a:srgbClr val="7E9AA6"/>
                </a:solidFill>
                <a:latin typeface="Courier New" pitchFamily="34" charset="0"/>
                <a:ea typeface="Courier New" pitchFamily="34" charset="-122"/>
                <a:cs typeface="Courier New" pitchFamily="34" charset="-120"/>
              </a:rPr>
              <a:t>✉  kolhe.pur@northeastern.edu</a:t>
            </a:r>
            <a:endParaRPr lang="en-US" sz="900" dirty="0"/>
          </a:p>
          <a:p>
            <a:pPr marL="0" indent="0">
              <a:lnSpc>
                <a:spcPct val="125000"/>
              </a:lnSpc>
              <a:buNone/>
            </a:pPr>
            <a:r>
              <a:rPr lang="en-US" sz="900" dirty="0">
                <a:solidFill>
                  <a:srgbClr val="7E9AA6"/>
                </a:solidFill>
                <a:latin typeface="Courier New" pitchFamily="34" charset="0"/>
                <a:ea typeface="Courier New" pitchFamily="34" charset="-122"/>
                <a:cs typeface="Courier New" pitchFamily="34" charset="-120"/>
              </a:rPr>
              <a:t>in  linkedin.com/in/purvesha-kolhe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11338560" y="6336792"/>
            <a:ext cx="365760" cy="274320"/>
          </a:xfrm>
          <a:prstGeom prst="rect">
            <a:avLst/>
          </a:prstGeom>
          <a:noFill/>
          <a:ln/>
        </p:spPr>
        <p:txBody>
          <a:bodyPr wrap="square" lIns="0" tIns="0" rIns="0" bIns="0" rtlCol="0" anchor="ctr"/>
          <a:lstStyle/>
          <a:p>
            <a:pPr marL="0" indent="0" algn="r">
              <a:buNone/>
            </a:pPr>
            <a:r>
              <a:rPr lang="en-US" sz="900" dirty="0">
                <a:solidFill>
                  <a:srgbClr val="5C7A88"/>
                </a:solidFill>
                <a:latin typeface="Courier New" pitchFamily="34" charset="0"/>
                <a:ea typeface="Courier New" pitchFamily="34" charset="-122"/>
                <a:cs typeface="Courier New" pitchFamily="34" charset="-120"/>
              </a:rPr>
              <a:t>2</a:t>
            </a:r>
            <a:endParaRPr lang="en-US" sz="900" dirty="0"/>
          </a:p>
        </p:txBody>
      </p:sp>
      <p:sp>
        <p:nvSpPr>
          <p:cNvPr id="3" name="Text 1"/>
          <p:cNvSpPr txBox="1"/>
          <p:nvPr/>
        </p:nvSpPr>
        <p:spPr>
          <a:xfrm>
            <a:off x="502920" y="347472"/>
            <a:ext cx="7315200" cy="502920"/>
          </a:xfrm>
          <a:prstGeom prst="rect">
            <a:avLst/>
          </a:prstGeom>
          <a:noFill/>
          <a:ln/>
        </p:spPr>
        <p:txBody>
          <a:bodyPr wrap="square" lIns="0" tIns="0" rIns="0" bIns="0" rtlCol="0" anchor="ctr"/>
          <a:lstStyle/>
          <a:p>
            <a:pPr marL="0" indent="0">
              <a:buNone/>
            </a:pPr>
            <a:r>
              <a:rPr lang="en-US" sz="3000" b="1" kern="0" spc="200" dirty="0">
                <a:solidFill>
                  <a:srgbClr val="E8F2F6"/>
                </a:solidFill>
                <a:latin typeface="Calibri" pitchFamily="34" charset="0"/>
                <a:ea typeface="Calibri" pitchFamily="34" charset="-122"/>
                <a:cs typeface="Calibri" pitchFamily="34" charset="-120"/>
              </a:rPr>
              <a:t>THE TEAM</a:t>
            </a:r>
            <a:endParaRPr lang="en-US" sz="3000" dirty="0"/>
          </a:p>
        </p:txBody>
      </p:sp>
      <p:sp>
        <p:nvSpPr>
          <p:cNvPr id="4" name="Text 2"/>
          <p:cNvSpPr txBox="1"/>
          <p:nvPr/>
        </p:nvSpPr>
        <p:spPr>
          <a:xfrm>
            <a:off x="502920" y="896112"/>
            <a:ext cx="7315200" cy="292608"/>
          </a:xfrm>
          <a:prstGeom prst="rect">
            <a:avLst/>
          </a:prstGeom>
          <a:noFill/>
          <a:ln/>
        </p:spPr>
        <p:txBody>
          <a:bodyPr wrap="square" lIns="0" tIns="0" rIns="0" bIns="0" rtlCol="0" anchor="ctr"/>
          <a:lstStyle/>
          <a:p>
            <a:pPr marL="0" indent="0">
              <a:buNone/>
            </a:pPr>
            <a:r>
              <a:rPr lang="en-US" sz="1150" dirty="0">
                <a:solidFill>
                  <a:srgbClr val="3FA8C4"/>
                </a:solidFill>
                <a:latin typeface="Courier New" pitchFamily="34" charset="0"/>
                <a:ea typeface="Courier New" pitchFamily="34" charset="-122"/>
                <a:cs typeface="Courier New" pitchFamily="34" charset="-120"/>
              </a:rPr>
              <a:t>FOUR PEOPLE · ONE PROTOTYPE · ONE QUESTION</a:t>
            </a:r>
            <a:endParaRPr lang="en-US" sz="1150" dirty="0"/>
          </a:p>
        </p:txBody>
      </p:sp>
      <p:sp>
        <p:nvSpPr>
          <p:cNvPr id="5" name="Shape 3"/>
          <p:cNvSpPr/>
          <p:nvPr/>
        </p:nvSpPr>
        <p:spPr>
          <a:xfrm>
            <a:off x="502920" y="1463040"/>
            <a:ext cx="5806440" cy="4069080"/>
          </a:xfrm>
          <a:prstGeom prst="roundRect">
            <a:avLst>
              <a:gd name="adj" fmla="val 899"/>
            </a:avLst>
          </a:prstGeom>
          <a:solidFill>
            <a:srgbClr val="10222E"/>
          </a:solidFill>
          <a:ln w="22225">
            <a:solidFill>
              <a:srgbClr val="2C5A6B"/>
            </a:solidFill>
            <a:prstDash val="dash"/>
          </a:ln>
        </p:spPr>
      </p:sp>
      <p:sp>
        <p:nvSpPr>
          <p:cNvPr id="6" name="Text 4"/>
          <p:cNvSpPr txBox="1"/>
          <p:nvPr/>
        </p:nvSpPr>
        <p:spPr>
          <a:xfrm>
            <a:off x="502920" y="1453896"/>
            <a:ext cx="5806440" cy="4069080"/>
          </a:xfrm>
          <a:prstGeom prst="rect">
            <a:avLst/>
          </a:prstGeom>
          <a:noFill/>
          <a:ln/>
        </p:spPr>
        <p:txBody>
          <a:bodyPr wrap="square" lIns="0" tIns="0" rIns="0" bIns="0" rtlCol="0" anchor="ctr"/>
          <a:lstStyle/>
          <a:p>
            <a:pPr marL="0" indent="0" algn="ctr">
              <a:buNone/>
            </a:pPr>
            <a:r>
              <a:rPr lang="en-US" sz="4000" dirty="0">
                <a:solidFill>
                  <a:srgbClr val="000000"/>
                </a:solidFill>
              </a:rPr>
              <a:t>📷</a:t>
            </a:r>
            <a:endParaRPr lang="en-US" sz="4000" dirty="0"/>
          </a:p>
        </p:txBody>
      </p:sp>
      <p:sp>
        <p:nvSpPr>
          <p:cNvPr id="7" name="Text 5"/>
          <p:cNvSpPr txBox="1"/>
          <p:nvPr/>
        </p:nvSpPr>
        <p:spPr>
          <a:xfrm>
            <a:off x="502920" y="3474720"/>
            <a:ext cx="5806440" cy="365760"/>
          </a:xfrm>
          <a:prstGeom prst="rect">
            <a:avLst/>
          </a:prstGeom>
          <a:noFill/>
          <a:ln/>
        </p:spPr>
        <p:txBody>
          <a:bodyPr wrap="square" lIns="0" tIns="0" rIns="0" bIns="0" rtlCol="0" anchor="ctr"/>
          <a:lstStyle/>
          <a:p>
            <a:pPr marL="0" indent="0" algn="ctr">
              <a:buNone/>
            </a:pPr>
            <a:r>
              <a:rPr lang="en-US" sz="1500" b="1" kern="0" spc="200" dirty="0">
                <a:solidFill>
                  <a:srgbClr val="4E7686"/>
                </a:solidFill>
                <a:latin typeface="Courier New" pitchFamily="34" charset="0"/>
                <a:ea typeface="Courier New" pitchFamily="34" charset="-122"/>
                <a:cs typeface="Courier New" pitchFamily="34" charset="-120"/>
              </a:rPr>
              <a:t>TEAM PHOTOGRAPH</a:t>
            </a:r>
            <a:endParaRPr lang="en-US" sz="1500" dirty="0"/>
          </a:p>
        </p:txBody>
      </p:sp>
      <p:sp>
        <p:nvSpPr>
          <p:cNvPr id="8" name="Text 6"/>
          <p:cNvSpPr txBox="1"/>
          <p:nvPr/>
        </p:nvSpPr>
        <p:spPr>
          <a:xfrm>
            <a:off x="502920" y="3913632"/>
            <a:ext cx="5806440" cy="310896"/>
          </a:xfrm>
          <a:prstGeom prst="rect">
            <a:avLst/>
          </a:prstGeom>
          <a:noFill/>
          <a:ln/>
        </p:spPr>
        <p:txBody>
          <a:bodyPr wrap="square" lIns="0" tIns="0" rIns="0" bIns="0" rtlCol="0" anchor="ctr"/>
          <a:lstStyle/>
          <a:p>
            <a:pPr marL="0" indent="0" algn="ctr">
              <a:buNone/>
            </a:pPr>
            <a:r>
              <a:rPr lang="en-US" sz="1000" dirty="0">
                <a:solidFill>
                  <a:srgbClr val="3E6070"/>
                </a:solidFill>
                <a:latin typeface="Calibri" pitchFamily="34" charset="0"/>
                <a:ea typeface="Calibri" pitchFamily="34" charset="-122"/>
                <a:cs typeface="Calibri" pitchFamily="34" charset="-120"/>
              </a:rPr>
              <a:t>Delete this frame, then Insert ▸ Picture into the same space</a:t>
            </a:r>
            <a:endParaRPr lang="en-US" sz="1000" dirty="0"/>
          </a:p>
        </p:txBody>
      </p:sp>
      <p:sp>
        <p:nvSpPr>
          <p:cNvPr id="9" name="Text 7"/>
          <p:cNvSpPr txBox="1"/>
          <p:nvPr/>
        </p:nvSpPr>
        <p:spPr>
          <a:xfrm>
            <a:off x="6583680" y="1463040"/>
            <a:ext cx="5074920" cy="365760"/>
          </a:xfrm>
          <a:prstGeom prst="rect">
            <a:avLst/>
          </a:prstGeom>
          <a:noFill/>
          <a:ln/>
        </p:spPr>
        <p:txBody>
          <a:bodyPr wrap="square" lIns="0" tIns="0" rIns="0" bIns="0" rtlCol="0" anchor="ctr"/>
          <a:lstStyle/>
          <a:p>
            <a:pPr marL="0" indent="0">
              <a:buNone/>
            </a:pPr>
            <a:r>
              <a:rPr lang="en-US" sz="1700" b="1" dirty="0">
                <a:solidFill>
                  <a:srgbClr val="E8F2F6"/>
                </a:solidFill>
                <a:latin typeface="Calibri" pitchFamily="34" charset="0"/>
                <a:ea typeface="Calibri" pitchFamily="34" charset="-122"/>
                <a:cs typeface="Calibri" pitchFamily="34" charset="-120"/>
              </a:rPr>
              <a:t>Team contribution split</a:t>
            </a:r>
            <a:endParaRPr lang="en-US" sz="1700" dirty="0"/>
          </a:p>
        </p:txBody>
      </p:sp>
      <p:sp>
        <p:nvSpPr>
          <p:cNvPr id="10" name="Text 8"/>
          <p:cNvSpPr txBox="1"/>
          <p:nvPr/>
        </p:nvSpPr>
        <p:spPr>
          <a:xfrm>
            <a:off x="6583680" y="1938528"/>
            <a:ext cx="201168" cy="256032"/>
          </a:xfrm>
          <a:prstGeom prst="rect">
            <a:avLst/>
          </a:prstGeom>
          <a:noFill/>
          <a:ln/>
        </p:spPr>
        <p:txBody>
          <a:bodyPr wrap="square" lIns="0" tIns="0" rIns="0" bIns="0" rtlCol="0" anchor="ctr"/>
          <a:lstStyle/>
          <a:p>
            <a:pPr marL="0" indent="0">
              <a:buNone/>
            </a:pPr>
            <a:r>
              <a:rPr lang="en-US" sz="1000" dirty="0">
                <a:solidFill>
                  <a:srgbClr val="FFA312"/>
                </a:solidFill>
              </a:rPr>
              <a:t>■</a:t>
            </a:r>
            <a:endParaRPr lang="en-US" sz="1000" dirty="0"/>
          </a:p>
        </p:txBody>
      </p:sp>
      <p:sp>
        <p:nvSpPr>
          <p:cNvPr id="11" name="Text 9"/>
          <p:cNvSpPr txBox="1"/>
          <p:nvPr/>
        </p:nvSpPr>
        <p:spPr>
          <a:xfrm>
            <a:off x="6839712" y="1920240"/>
            <a:ext cx="2651760" cy="274320"/>
          </a:xfrm>
          <a:prstGeom prst="rect">
            <a:avLst/>
          </a:prstGeom>
          <a:noFill/>
          <a:ln/>
        </p:spPr>
        <p:txBody>
          <a:bodyPr wrap="square" lIns="0" tIns="0" rIns="0" bIns="0" rtlCol="0" anchor="ctr"/>
          <a:lstStyle/>
          <a:p>
            <a:pPr marL="0" indent="0">
              <a:buNone/>
            </a:pPr>
            <a:r>
              <a:rPr lang="en-US" sz="1250" b="1" dirty="0">
                <a:solidFill>
                  <a:srgbClr val="E8F2F6"/>
                </a:solidFill>
                <a:latin typeface="Calibri" pitchFamily="34" charset="0"/>
                <a:ea typeface="Calibri" pitchFamily="34" charset="-122"/>
                <a:cs typeface="Calibri" pitchFamily="34" charset="-120"/>
              </a:rPr>
              <a:t>Core development</a:t>
            </a:r>
            <a:endParaRPr lang="en-US" sz="1250" dirty="0"/>
          </a:p>
        </p:txBody>
      </p:sp>
      <p:sp>
        <p:nvSpPr>
          <p:cNvPr id="12" name="Text 10"/>
          <p:cNvSpPr txBox="1"/>
          <p:nvPr/>
        </p:nvSpPr>
        <p:spPr>
          <a:xfrm>
            <a:off x="9509760" y="1920240"/>
            <a:ext cx="2148840" cy="274320"/>
          </a:xfrm>
          <a:prstGeom prst="rect">
            <a:avLst/>
          </a:prstGeom>
          <a:noFill/>
          <a:ln/>
        </p:spPr>
        <p:txBody>
          <a:bodyPr wrap="square" lIns="0" tIns="0" rIns="0" bIns="0" rtlCol="0" anchor="ctr"/>
          <a:lstStyle/>
          <a:p>
            <a:pPr marL="0" indent="0" algn="r">
              <a:buNone/>
            </a:pPr>
            <a:r>
              <a:rPr lang="en-US" sz="1100" b="1" dirty="0">
                <a:solidFill>
                  <a:srgbClr val="FFA312"/>
                </a:solidFill>
                <a:latin typeface="Courier New" pitchFamily="34" charset="0"/>
                <a:ea typeface="Courier New" pitchFamily="34" charset="-122"/>
                <a:cs typeface="Courier New" pitchFamily="34" charset="-120"/>
              </a:rPr>
              <a:t>Chirag + Raj</a:t>
            </a:r>
            <a:endParaRPr lang="en-US" sz="1100" dirty="0"/>
          </a:p>
        </p:txBody>
      </p:sp>
      <p:sp>
        <p:nvSpPr>
          <p:cNvPr id="13" name="Text 11"/>
          <p:cNvSpPr txBox="1"/>
          <p:nvPr/>
        </p:nvSpPr>
        <p:spPr>
          <a:xfrm>
            <a:off x="6839712" y="2212848"/>
            <a:ext cx="4754880" cy="566928"/>
          </a:xfrm>
          <a:prstGeom prst="rect">
            <a:avLst/>
          </a:prstGeom>
          <a:noFill/>
          <a:ln/>
        </p:spPr>
        <p:txBody>
          <a:bodyPr wrap="square" lIns="0" tIns="0" rIns="0" bIns="0" rtlCol="0" anchor="ctr"/>
          <a:lstStyle/>
          <a:p>
            <a:pPr marL="0" indent="0">
              <a:buNone/>
            </a:pPr>
            <a:r>
              <a:rPr lang="en-US" sz="1050" dirty="0">
                <a:solidFill>
                  <a:srgbClr val="7E9AA6"/>
                </a:solidFill>
                <a:latin typeface="Calibri" pitchFamily="34" charset="0"/>
                <a:ea typeface="Calibri" pitchFamily="34" charset="-122"/>
                <a:cs typeface="Calibri" pitchFamily="34" charset="-120"/>
              </a:rPr>
              <a:t>Gameplay systems, technical architecture, 3D and gameplay integration, AI behaviour, sensor and evidence logic, testing and build integration.</a:t>
            </a:r>
            <a:endParaRPr lang="en-US" sz="1050" dirty="0"/>
          </a:p>
        </p:txBody>
      </p:sp>
      <p:sp>
        <p:nvSpPr>
          <p:cNvPr id="14" name="Text 12"/>
          <p:cNvSpPr txBox="1"/>
          <p:nvPr/>
        </p:nvSpPr>
        <p:spPr>
          <a:xfrm>
            <a:off x="6583680" y="2852928"/>
            <a:ext cx="201168" cy="256032"/>
          </a:xfrm>
          <a:prstGeom prst="rect">
            <a:avLst/>
          </a:prstGeom>
          <a:noFill/>
          <a:ln/>
        </p:spPr>
        <p:txBody>
          <a:bodyPr wrap="square" lIns="0" tIns="0" rIns="0" bIns="0" rtlCol="0" anchor="ctr"/>
          <a:lstStyle/>
          <a:p>
            <a:pPr marL="0" indent="0">
              <a:buNone/>
            </a:pPr>
            <a:r>
              <a:rPr lang="en-US" sz="1000" dirty="0">
                <a:solidFill>
                  <a:srgbClr val="3FA8C4"/>
                </a:solidFill>
              </a:rPr>
              <a:t>■</a:t>
            </a:r>
            <a:endParaRPr lang="en-US" sz="1000" dirty="0"/>
          </a:p>
        </p:txBody>
      </p:sp>
      <p:sp>
        <p:nvSpPr>
          <p:cNvPr id="15" name="Text 13"/>
          <p:cNvSpPr txBox="1"/>
          <p:nvPr/>
        </p:nvSpPr>
        <p:spPr>
          <a:xfrm>
            <a:off x="6839712" y="2834640"/>
            <a:ext cx="2651760" cy="274320"/>
          </a:xfrm>
          <a:prstGeom prst="rect">
            <a:avLst/>
          </a:prstGeom>
          <a:noFill/>
          <a:ln/>
        </p:spPr>
        <p:txBody>
          <a:bodyPr wrap="square" lIns="0" tIns="0" rIns="0" bIns="0" rtlCol="0" anchor="ctr"/>
          <a:lstStyle/>
          <a:p>
            <a:pPr marL="0" indent="0">
              <a:buNone/>
            </a:pPr>
            <a:r>
              <a:rPr lang="en-US" sz="1250" b="1" dirty="0">
                <a:solidFill>
                  <a:srgbClr val="E8F2F6"/>
                </a:solidFill>
                <a:latin typeface="Calibri" pitchFamily="34" charset="0"/>
                <a:ea typeface="Calibri" pitchFamily="34" charset="-122"/>
                <a:cs typeface="Calibri" pitchFamily="34" charset="-120"/>
              </a:rPr>
              <a:t>Technical design &amp; UI</a:t>
            </a:r>
            <a:endParaRPr lang="en-US" sz="1250" dirty="0"/>
          </a:p>
        </p:txBody>
      </p:sp>
      <p:sp>
        <p:nvSpPr>
          <p:cNvPr id="16" name="Text 14"/>
          <p:cNvSpPr txBox="1"/>
          <p:nvPr/>
        </p:nvSpPr>
        <p:spPr>
          <a:xfrm>
            <a:off x="9509760" y="2834640"/>
            <a:ext cx="2148840" cy="274320"/>
          </a:xfrm>
          <a:prstGeom prst="rect">
            <a:avLst/>
          </a:prstGeom>
          <a:noFill/>
          <a:ln/>
        </p:spPr>
        <p:txBody>
          <a:bodyPr wrap="square" lIns="0" tIns="0" rIns="0" bIns="0" rtlCol="0" anchor="ctr"/>
          <a:lstStyle/>
          <a:p>
            <a:pPr marL="0" indent="0" algn="r">
              <a:buNone/>
            </a:pPr>
            <a:r>
              <a:rPr lang="en-US" sz="1100" b="1" dirty="0">
                <a:solidFill>
                  <a:srgbClr val="3FA8C4"/>
                </a:solidFill>
                <a:latin typeface="Courier New" pitchFamily="34" charset="0"/>
                <a:ea typeface="Courier New" pitchFamily="34" charset="-122"/>
                <a:cs typeface="Courier New" pitchFamily="34" charset="-120"/>
              </a:rPr>
              <a:t>Purvesha</a:t>
            </a:r>
            <a:endParaRPr lang="en-US" sz="1100" dirty="0"/>
          </a:p>
        </p:txBody>
      </p:sp>
      <p:sp>
        <p:nvSpPr>
          <p:cNvPr id="17" name="Text 15"/>
          <p:cNvSpPr txBox="1"/>
          <p:nvPr/>
        </p:nvSpPr>
        <p:spPr>
          <a:xfrm>
            <a:off x="6839712" y="3127248"/>
            <a:ext cx="4754880" cy="566928"/>
          </a:xfrm>
          <a:prstGeom prst="rect">
            <a:avLst/>
          </a:prstGeom>
          <a:noFill/>
          <a:ln/>
        </p:spPr>
        <p:txBody>
          <a:bodyPr wrap="square" lIns="0" tIns="0" rIns="0" bIns="0" rtlCol="0" anchor="ctr"/>
          <a:lstStyle/>
          <a:p>
            <a:pPr marL="0" indent="0">
              <a:buNone/>
            </a:pPr>
            <a:r>
              <a:rPr lang="en-US" sz="1050" dirty="0">
                <a:solidFill>
                  <a:srgbClr val="7E9AA6"/>
                </a:solidFill>
                <a:latin typeface="Calibri" pitchFamily="34" charset="0"/>
                <a:ea typeface="Calibri" pitchFamily="34" charset="-122"/>
                <a:cs typeface="Calibri" pitchFamily="34" charset="-120"/>
              </a:rPr>
              <a:t>Player-facing HUD and UI, interaction flow, content and scenario integration, testing and iteration.</a:t>
            </a:r>
            <a:endParaRPr lang="en-US" sz="1050" dirty="0"/>
          </a:p>
        </p:txBody>
      </p:sp>
      <p:sp>
        <p:nvSpPr>
          <p:cNvPr id="18" name="Text 16"/>
          <p:cNvSpPr txBox="1"/>
          <p:nvPr/>
        </p:nvSpPr>
        <p:spPr>
          <a:xfrm>
            <a:off x="6583680" y="3767328"/>
            <a:ext cx="201168" cy="256032"/>
          </a:xfrm>
          <a:prstGeom prst="rect">
            <a:avLst/>
          </a:prstGeom>
          <a:noFill/>
          <a:ln/>
        </p:spPr>
        <p:txBody>
          <a:bodyPr wrap="square" lIns="0" tIns="0" rIns="0" bIns="0" rtlCol="0" anchor="ctr"/>
          <a:lstStyle/>
          <a:p>
            <a:pPr marL="0" indent="0">
              <a:buNone/>
            </a:pPr>
            <a:r>
              <a:rPr lang="en-US" sz="1000" dirty="0">
                <a:solidFill>
                  <a:srgbClr val="FFA312"/>
                </a:solidFill>
              </a:rPr>
              <a:t>■</a:t>
            </a:r>
            <a:endParaRPr lang="en-US" sz="1000" dirty="0"/>
          </a:p>
        </p:txBody>
      </p:sp>
      <p:sp>
        <p:nvSpPr>
          <p:cNvPr id="19" name="Text 17"/>
          <p:cNvSpPr txBox="1"/>
          <p:nvPr/>
        </p:nvSpPr>
        <p:spPr>
          <a:xfrm>
            <a:off x="6839712" y="3749040"/>
            <a:ext cx="2651760" cy="274320"/>
          </a:xfrm>
          <a:prstGeom prst="rect">
            <a:avLst/>
          </a:prstGeom>
          <a:noFill/>
          <a:ln/>
        </p:spPr>
        <p:txBody>
          <a:bodyPr wrap="square" lIns="0" tIns="0" rIns="0" bIns="0" rtlCol="0" anchor="ctr"/>
          <a:lstStyle/>
          <a:p>
            <a:pPr marL="0" indent="0">
              <a:buNone/>
            </a:pPr>
            <a:r>
              <a:rPr lang="en-US" sz="1250" b="1" dirty="0">
                <a:solidFill>
                  <a:srgbClr val="E8F2F6"/>
                </a:solidFill>
                <a:latin typeface="Calibri" pitchFamily="34" charset="0"/>
                <a:ea typeface="Calibri" pitchFamily="34" charset="-122"/>
                <a:cs typeface="Calibri" pitchFamily="34" charset="-120"/>
              </a:rPr>
              <a:t>Visuals, music &amp; theme</a:t>
            </a:r>
            <a:endParaRPr lang="en-US" sz="1250" dirty="0"/>
          </a:p>
        </p:txBody>
      </p:sp>
      <p:sp>
        <p:nvSpPr>
          <p:cNvPr id="20" name="Text 18"/>
          <p:cNvSpPr txBox="1"/>
          <p:nvPr/>
        </p:nvSpPr>
        <p:spPr>
          <a:xfrm>
            <a:off x="9509760" y="3749040"/>
            <a:ext cx="2148840" cy="274320"/>
          </a:xfrm>
          <a:prstGeom prst="rect">
            <a:avLst/>
          </a:prstGeom>
          <a:noFill/>
          <a:ln/>
        </p:spPr>
        <p:txBody>
          <a:bodyPr wrap="square" lIns="0" tIns="0" rIns="0" bIns="0" rtlCol="0" anchor="ctr"/>
          <a:lstStyle/>
          <a:p>
            <a:pPr marL="0" indent="0" algn="r">
              <a:buNone/>
            </a:pPr>
            <a:r>
              <a:rPr lang="en-US" sz="1100" b="1" dirty="0">
                <a:solidFill>
                  <a:srgbClr val="FFA312"/>
                </a:solidFill>
                <a:latin typeface="Courier New" pitchFamily="34" charset="0"/>
                <a:ea typeface="Courier New" pitchFamily="34" charset="-122"/>
                <a:cs typeface="Courier New" pitchFamily="34" charset="-120"/>
              </a:rPr>
              <a:t>Preksha + Purvesha</a:t>
            </a:r>
            <a:endParaRPr lang="en-US" sz="1100" dirty="0"/>
          </a:p>
        </p:txBody>
      </p:sp>
      <p:sp>
        <p:nvSpPr>
          <p:cNvPr id="21" name="Text 19"/>
          <p:cNvSpPr txBox="1"/>
          <p:nvPr/>
        </p:nvSpPr>
        <p:spPr>
          <a:xfrm>
            <a:off x="6839712" y="4041648"/>
            <a:ext cx="4754880" cy="566928"/>
          </a:xfrm>
          <a:prstGeom prst="rect">
            <a:avLst/>
          </a:prstGeom>
          <a:noFill/>
          <a:ln/>
        </p:spPr>
        <p:txBody>
          <a:bodyPr wrap="square" lIns="0" tIns="0" rIns="0" bIns="0" rtlCol="0" anchor="ctr"/>
          <a:lstStyle/>
          <a:p>
            <a:pPr marL="0" indent="0">
              <a:buNone/>
            </a:pPr>
            <a:r>
              <a:rPr lang="en-US" sz="1050" dirty="0">
                <a:solidFill>
                  <a:srgbClr val="7E9AA6"/>
                </a:solidFill>
                <a:latin typeface="Calibri" pitchFamily="34" charset="0"/>
                <a:ea typeface="Calibri" pitchFamily="34" charset="-122"/>
                <a:cs typeface="Calibri" pitchFamily="34" charset="-120"/>
              </a:rPr>
              <a:t>Visual direction, underwater sci-fi identity, presentation, audio and music, and the overall player experience.</a:t>
            </a:r>
            <a:endParaRPr lang="en-US" sz="1050" dirty="0"/>
          </a:p>
        </p:txBody>
      </p:sp>
      <p:sp>
        <p:nvSpPr>
          <p:cNvPr id="22" name="Text 20"/>
          <p:cNvSpPr txBox="1"/>
          <p:nvPr/>
        </p:nvSpPr>
        <p:spPr>
          <a:xfrm>
            <a:off x="6583680" y="4681728"/>
            <a:ext cx="201168" cy="256032"/>
          </a:xfrm>
          <a:prstGeom prst="rect">
            <a:avLst/>
          </a:prstGeom>
          <a:noFill/>
          <a:ln/>
        </p:spPr>
        <p:txBody>
          <a:bodyPr wrap="square" lIns="0" tIns="0" rIns="0" bIns="0" rtlCol="0" anchor="ctr"/>
          <a:lstStyle/>
          <a:p>
            <a:pPr marL="0" indent="0">
              <a:buNone/>
            </a:pPr>
            <a:r>
              <a:rPr lang="en-US" sz="1000" dirty="0">
                <a:solidFill>
                  <a:srgbClr val="3FA8C4"/>
                </a:solidFill>
              </a:rPr>
              <a:t>■</a:t>
            </a:r>
            <a:endParaRPr lang="en-US" sz="1000" dirty="0"/>
          </a:p>
        </p:txBody>
      </p:sp>
      <p:sp>
        <p:nvSpPr>
          <p:cNvPr id="23" name="Text 21"/>
          <p:cNvSpPr txBox="1"/>
          <p:nvPr/>
        </p:nvSpPr>
        <p:spPr>
          <a:xfrm>
            <a:off x="6839712" y="4663440"/>
            <a:ext cx="2651760" cy="274320"/>
          </a:xfrm>
          <a:prstGeom prst="rect">
            <a:avLst/>
          </a:prstGeom>
          <a:noFill/>
          <a:ln/>
        </p:spPr>
        <p:txBody>
          <a:bodyPr wrap="square" lIns="0" tIns="0" rIns="0" bIns="0" rtlCol="0" anchor="ctr"/>
          <a:lstStyle/>
          <a:p>
            <a:pPr marL="0" indent="0">
              <a:buNone/>
            </a:pPr>
            <a:r>
              <a:rPr lang="en-US" sz="1250" b="1" dirty="0">
                <a:solidFill>
                  <a:srgbClr val="E8F2F6"/>
                </a:solidFill>
                <a:latin typeface="Calibri" pitchFamily="34" charset="0"/>
                <a:ea typeface="Calibri" pitchFamily="34" charset="-122"/>
                <a:cs typeface="Calibri" pitchFamily="34" charset="-120"/>
              </a:rPr>
              <a:t>Documentation &amp; narrative</a:t>
            </a:r>
            <a:endParaRPr lang="en-US" sz="1250" dirty="0"/>
          </a:p>
        </p:txBody>
      </p:sp>
      <p:sp>
        <p:nvSpPr>
          <p:cNvPr id="24" name="Text 22"/>
          <p:cNvSpPr txBox="1"/>
          <p:nvPr/>
        </p:nvSpPr>
        <p:spPr>
          <a:xfrm>
            <a:off x="9509760" y="4663440"/>
            <a:ext cx="2148840" cy="274320"/>
          </a:xfrm>
          <a:prstGeom prst="rect">
            <a:avLst/>
          </a:prstGeom>
          <a:noFill/>
          <a:ln/>
        </p:spPr>
        <p:txBody>
          <a:bodyPr wrap="square" lIns="0" tIns="0" rIns="0" bIns="0" rtlCol="0" anchor="ctr"/>
          <a:lstStyle/>
          <a:p>
            <a:pPr marL="0" indent="0" algn="r">
              <a:buNone/>
            </a:pPr>
            <a:r>
              <a:rPr lang="en-US" sz="1100" b="1" dirty="0">
                <a:solidFill>
                  <a:srgbClr val="3FA8C4"/>
                </a:solidFill>
                <a:latin typeface="Courier New" pitchFamily="34" charset="0"/>
                <a:ea typeface="Courier New" pitchFamily="34" charset="-122"/>
                <a:cs typeface="Courier New" pitchFamily="34" charset="-120"/>
              </a:rPr>
              <a:t>Purvesha</a:t>
            </a:r>
            <a:endParaRPr lang="en-US" sz="1100" dirty="0"/>
          </a:p>
        </p:txBody>
      </p:sp>
      <p:sp>
        <p:nvSpPr>
          <p:cNvPr id="25" name="Text 23"/>
          <p:cNvSpPr txBox="1"/>
          <p:nvPr/>
        </p:nvSpPr>
        <p:spPr>
          <a:xfrm>
            <a:off x="6839712" y="4956048"/>
            <a:ext cx="4754880" cy="566928"/>
          </a:xfrm>
          <a:prstGeom prst="rect">
            <a:avLst/>
          </a:prstGeom>
          <a:noFill/>
          <a:ln/>
        </p:spPr>
        <p:txBody>
          <a:bodyPr wrap="square" lIns="0" tIns="0" rIns="0" bIns="0" rtlCol="0" anchor="ctr"/>
          <a:lstStyle/>
          <a:p>
            <a:pPr marL="0" indent="0">
              <a:buNone/>
            </a:pPr>
            <a:r>
              <a:rPr lang="en-US" sz="1050" dirty="0">
                <a:solidFill>
                  <a:srgbClr val="7E9AA6"/>
                </a:solidFill>
                <a:latin typeface="Calibri" pitchFamily="34" charset="0"/>
                <a:ea typeface="Calibri" pitchFamily="34" charset="-122"/>
                <a:cs typeface="Calibri" pitchFamily="34" charset="-120"/>
              </a:rPr>
              <a:t>Challenge framing, game narrative, project documentation, demo materials and final written deliverables.</a:t>
            </a:r>
            <a:endParaRPr lang="en-US" sz="1050" dirty="0"/>
          </a:p>
        </p:txBody>
      </p:sp>
      <p:sp>
        <p:nvSpPr>
          <p:cNvPr id="26" name="Shape 24"/>
          <p:cNvSpPr/>
          <p:nvPr/>
        </p:nvSpPr>
        <p:spPr>
          <a:xfrm>
            <a:off x="6583680" y="5596128"/>
            <a:ext cx="5074920" cy="566928"/>
          </a:xfrm>
          <a:prstGeom prst="roundRect">
            <a:avLst>
              <a:gd name="adj" fmla="val 8065"/>
            </a:avLst>
          </a:prstGeom>
          <a:solidFill>
            <a:srgbClr val="10222E"/>
          </a:solidFill>
          <a:ln w="12700">
            <a:solidFill>
              <a:srgbClr val="16303D"/>
            </a:solidFill>
            <a:prstDash val="solid"/>
          </a:ln>
        </p:spPr>
      </p:sp>
      <p:sp>
        <p:nvSpPr>
          <p:cNvPr id="27" name="Text 25"/>
          <p:cNvSpPr txBox="1"/>
          <p:nvPr/>
        </p:nvSpPr>
        <p:spPr>
          <a:xfrm>
            <a:off x="6784848" y="5669280"/>
            <a:ext cx="4672584" cy="420624"/>
          </a:xfrm>
          <a:prstGeom prst="rect">
            <a:avLst/>
          </a:prstGeom>
          <a:noFill/>
          <a:ln/>
        </p:spPr>
        <p:txBody>
          <a:bodyPr wrap="square" lIns="0" tIns="0" rIns="0" bIns="0" rtlCol="0" anchor="ctr"/>
          <a:lstStyle/>
          <a:p>
            <a:pPr marL="0" indent="0">
              <a:buNone/>
            </a:pPr>
            <a:r>
              <a:rPr lang="en-US" sz="1050" i="1" dirty="0">
                <a:solidFill>
                  <a:srgbClr val="E8F2F6"/>
                </a:solidFill>
                <a:latin typeface="Cambria" pitchFamily="34" charset="0"/>
                <a:ea typeface="Cambria" pitchFamily="34" charset="-122"/>
                <a:cs typeface="Cambria" pitchFamily="34" charset="-120"/>
              </a:rPr>
              <a:t>Team-wide: ideation, playtesting, iteration, integration and the final presentation.</a:t>
            </a:r>
            <a:endParaRPr lang="en-US" sz="1050" dirty="0"/>
          </a:p>
        </p:txBody>
      </p:sp>
      <p:sp>
        <p:nvSpPr>
          <p:cNvPr id="28" name="Text 26"/>
          <p:cNvSpPr txBox="1"/>
          <p:nvPr/>
        </p:nvSpPr>
        <p:spPr>
          <a:xfrm>
            <a:off x="502920" y="5669280"/>
            <a:ext cx="5806440" cy="384048"/>
          </a:xfrm>
          <a:prstGeom prst="rect">
            <a:avLst/>
          </a:prstGeom>
          <a:noFill/>
          <a:ln/>
        </p:spPr>
        <p:txBody>
          <a:bodyPr wrap="square" lIns="0" tIns="0" rIns="0" bIns="0" rtlCol="0" anchor="ctr"/>
          <a:lstStyle/>
          <a:p>
            <a:pPr marL="0" indent="0" algn="ctr">
              <a:buNone/>
            </a:pPr>
            <a:r>
              <a:rPr lang="en-US" sz="1300" b="1" kern="0" spc="100" dirty="0">
                <a:solidFill>
                  <a:srgbClr val="FFA312"/>
                </a:solidFill>
                <a:latin typeface="Calibri" pitchFamily="34" charset="0"/>
                <a:ea typeface="Calibri" pitchFamily="34" charset="-122"/>
                <a:cs typeface="Calibri" pitchFamily="34" charset="-120"/>
              </a:rPr>
              <a:t>WHEN SHOULD YOU TRUST YOUR AI TEAMMATE?</a:t>
            </a:r>
            <a:endParaRPr lang="en-US" sz="1300" dirty="0"/>
          </a:p>
        </p:txBody>
      </p:sp>
      <p:pic>
        <p:nvPicPr>
          <p:cNvPr id="30" name="Picture 29">
            <a:extLst>
              <a:ext uri="{FF2B5EF4-FFF2-40B4-BE49-F238E27FC236}">
                <a16:creationId xmlns:a16="http://schemas.microsoft.com/office/drawing/2014/main" id="{40057E92-3243-9A5C-40AF-3600B90C13AA}"/>
              </a:ext>
            </a:extLst>
          </p:cNvPr>
          <p:cNvPicPr>
            <a:picLocks noChangeAspect="1"/>
          </p:cNvPicPr>
          <p:nvPr/>
        </p:nvPicPr>
        <p:blipFill>
          <a:blip r:embed="rId3"/>
          <a:stretch>
            <a:fillRect/>
          </a:stretch>
        </p:blipFill>
        <p:spPr>
          <a:xfrm>
            <a:off x="210337" y="1490472"/>
            <a:ext cx="6236183" cy="403250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517</Words>
  <Application>Microsoft Office PowerPoint</Application>
  <PresentationFormat>Widescreen</PresentationFormat>
  <Paragraphs>57</Paragraphs>
  <Slides>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Arial</vt:lpstr>
      <vt:lpstr>Calibri</vt:lpstr>
      <vt:lpstr>Cambria</vt:lpstr>
      <vt:lpstr>Courier New</vt:lpstr>
      <vt:lpstr>Office Theme</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animexadda916@gmail.com</cp:lastModifiedBy>
  <cp:revision>2</cp:revision>
  <dcterms:created xsi:type="dcterms:W3CDTF">2026-09-20T19:07:35Z</dcterms:created>
  <dcterms:modified xsi:type="dcterms:W3CDTF">2026-09-20T19:44:07Z</dcterms:modified>
</cp:coreProperties>
</file>